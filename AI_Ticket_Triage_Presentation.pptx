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5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AI Agent Ticket Triage &amp;
Auto-Routing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8CB8FF"/>
                </a:solidFill>
                <a:latin typeface="Calibri"/>
              </a:rPr>
              <a:t>Automated ITSM Intelligence — Classify · Prioritize · Route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6B8C"/>
                </a:solidFill>
                <a:latin typeface="Calibri"/>
              </a:rPr>
              <a:t>Built with  Python · FastAPI · React · Ollama · scikit-learn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6B8C"/>
                </a:solidFill>
                <a:latin typeface="Calibri"/>
              </a:rPr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1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0972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8132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62626"/>
                </a:solidFill>
                <a:latin typeface="Calibri"/>
              </a:rPr>
              <a:t>⏱  Manual triage takes 15–30 minutes per ticket batch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40280"/>
            <a:ext cx="10972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35000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62626"/>
                </a:solidFill>
                <a:latin typeface="Calibri"/>
              </a:rPr>
              <a:t>❌  Inconsistent routing — wrong team assigned, rework required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108960"/>
            <a:ext cx="10972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186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62626"/>
                </a:solidFill>
                <a:latin typeface="Calibri"/>
              </a:rPr>
              <a:t>📉  No priority intelligence — critical issues missed in the queue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977640"/>
            <a:ext cx="10972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08736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62626"/>
                </a:solidFill>
                <a:latin typeface="Calibri"/>
              </a:rPr>
              <a:t>🔁  Repetitive work — analysts spend 40%+ of time on routing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846320"/>
            <a:ext cx="10972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95604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62626"/>
                </a:solidFill>
                <a:latin typeface="Calibri"/>
              </a:rPr>
              <a:t>📊  No visibility into ticket trends or team workload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Our Solution — AI Agent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Calibri"/>
              </a:rPr>
              <a:t>An intelligent multi-agent system that automatically classifies, prioritizes,
and routes IT support tickets — with zero manual intervention for high-confidence cases.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286000"/>
            <a:ext cx="2194560" cy="91440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🔍  Classify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3375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95959"/>
                </a:solidFill>
                <a:latin typeface="Calibri"/>
              </a:rPr>
              <a:t>Determines ticket
category automatically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2651760"/>
            <a:ext cx="137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677FF"/>
                </a:solidFill>
                <a:latin typeface="Calibr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697480" y="2286000"/>
            <a:ext cx="2194560" cy="914400"/>
          </a:xfrm>
          <a:prstGeom prst="rect">
            <a:avLst/>
          </a:prstGeom>
          <a:solidFill>
            <a:srgbClr val="FA8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⚡  Prioritize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33375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95959"/>
                </a:solidFill>
                <a:latin typeface="Calibri"/>
              </a:rPr>
              <a:t>Assigns P1–P4 priority
based on 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2651760"/>
            <a:ext cx="137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677FF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2286000"/>
            <a:ext cx="2194560" cy="914400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📬  Route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3375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95959"/>
                </a:solidFill>
                <a:latin typeface="Calibri"/>
              </a:rPr>
              <a:t>Assigns to the right
team &amp; person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651760"/>
            <a:ext cx="137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677FF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60920" y="2286000"/>
            <a:ext cx="2194560" cy="914400"/>
          </a:xfrm>
          <a:prstGeom prst="rect">
            <a:avLst/>
          </a:prstGeom>
          <a:solidFill>
            <a:srgbClr val="001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📊  Confidence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33375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95959"/>
                </a:solidFill>
                <a:latin typeface="Calibri"/>
              </a:rPr>
              <a:t>Decides: auto-route,
flag, or hold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55480" y="2651760"/>
            <a:ext cx="137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677FF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92640" y="2286000"/>
            <a:ext cx="2194560" cy="914400"/>
          </a:xfrm>
          <a:prstGeom prst="rect">
            <a:avLst/>
          </a:prstGeom>
          <a:solidFill>
            <a:srgbClr val="722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🔄  Learn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33375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95959"/>
                </a:solidFill>
                <a:latin typeface="Calibri"/>
              </a:rPr>
              <a:t>Feedback loop
improves accuracy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4572000"/>
            <a:ext cx="10058400" cy="1097280"/>
          </a:xfrm>
          <a:prstGeom prst="rect">
            <a:avLst/>
          </a:prstGeom>
          <a:solidFill>
            <a:srgbClr val="F6FFED"/>
          </a:solidFill>
          <a:ln w="25400">
            <a:solidFill>
              <a:srgbClr val="52C4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709160"/>
            <a:ext cx="9692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35200"/>
                </a:solidFill>
                <a:latin typeface="Calibri"/>
              </a:rPr>
              <a:t>✅  Result: &gt;85% of tickets routed automatically — reducing manual effort by ≥50% and eliminating routing errors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1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End-to-End Workflow — 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2286000" cy="914400"/>
          </a:xfrm>
          <a:prstGeom prst="rect">
            <a:avLst/>
          </a:prstGeom>
          <a:solidFill>
            <a:srgbClr val="E6F4FF"/>
          </a:solidFill>
          <a:ln w="19050"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1529"/>
                </a:solidFill>
                <a:latin typeface="Calibri"/>
              </a:rPr>
              <a:t>📄  Excel File
(tickets.xlsx)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06040" y="15087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95959"/>
                </a:solidFill>
                <a:latin typeface="Calibri"/>
              </a:rPr>
              <a:t>Upload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06040" y="16459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677FF"/>
                </a:solidFill>
                <a:latin typeface="Calibri"/>
              </a:rPr>
              <a:t>━━━▶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188720"/>
            <a:ext cx="2560320" cy="91440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🌐  Web Portal
(React + Ant Design)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150876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95959"/>
                </a:solidFill>
                <a:latin typeface="Calibri"/>
              </a:rPr>
              <a:t>Submit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16459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677FF"/>
                </a:solidFill>
                <a:latin typeface="Calibri"/>
              </a:rPr>
              <a:t>━━━▶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1188720"/>
            <a:ext cx="2560320" cy="914400"/>
          </a:xfrm>
          <a:prstGeom prst="rect">
            <a:avLst/>
          </a:prstGeom>
          <a:solidFill>
            <a:srgbClr val="001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⚙️  FastAPI
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15087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95959"/>
                </a:solidFill>
                <a:latin typeface="Calibri"/>
              </a:rPr>
              <a:t>Triggers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64040" y="16459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677FF"/>
                </a:solidFill>
                <a:latin typeface="Calibri"/>
              </a:rPr>
              <a:t>━━━▶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149840" y="1188720"/>
            <a:ext cx="1737360" cy="914400"/>
          </a:xfrm>
          <a:prstGeom prst="rect">
            <a:avLst/>
          </a:prstGeom>
          <a:solidFill>
            <a:srgbClr val="722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🤖  AI
Agents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22ED1"/>
                </a:solidFill>
                <a:latin typeface="Calibri"/>
              </a:rP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2651760"/>
            <a:ext cx="2011680" cy="100584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
🔍
Classify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01752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677FF"/>
                </a:solidFill>
                <a:latin typeface="Calibri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83480" y="2651760"/>
            <a:ext cx="2011680" cy="1005840"/>
          </a:xfrm>
          <a:prstGeom prst="rect">
            <a:avLst/>
          </a:prstGeom>
          <a:solidFill>
            <a:srgbClr val="FA8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
⚡
Priority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301752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677FF"/>
                </a:solidFill>
                <a:latin typeface="Calibri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23760" y="2651760"/>
            <a:ext cx="2011680" cy="1005840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
📬
Route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301752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677FF"/>
                </a:solidFill>
                <a:latin typeface="Calibri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64040" y="2651760"/>
            <a:ext cx="2011680" cy="1005840"/>
          </a:xfrm>
          <a:prstGeom prst="rect">
            <a:avLst/>
          </a:prstGeom>
          <a:solidFill>
            <a:srgbClr val="001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
📊
Confidence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8346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95959"/>
                </a:solidFill>
                <a:latin typeface="Calibri"/>
              </a:rPr>
              <a:t>ML Model
(scikit-learn)
+  Ollama LLM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3063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677FF"/>
                </a:solidFill>
                <a:latin typeface="Calibri"/>
              </a:rPr>
              <a:t>━━▶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3703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1529"/>
                </a:solidFill>
                <a:latin typeface="Calibri"/>
              </a:rPr>
              <a:t>▼  Decision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0" y="4206240"/>
            <a:ext cx="3017520" cy="1188720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✅  AUTO-ROUTED
&gt; 85% confidence
Email sent automatically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0" y="4206240"/>
            <a:ext cx="3017520" cy="1188720"/>
          </a:xfrm>
          <a:prstGeom prst="rect">
            <a:avLst/>
          </a:prstGeom>
          <a:solidFill>
            <a:srgbClr val="FA8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⚠️  FLAGGED
65–85% confidence
Needs human review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4206240"/>
            <a:ext cx="3017520" cy="1188720"/>
          </a:xfrm>
          <a:prstGeom prst="rect">
            <a:avLst/>
          </a:prstGeom>
          <a:solidFill>
            <a:srgbClr val="F5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🔴  HELD
&lt; 65% confidence
Manual classification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577840"/>
            <a:ext cx="11612880" cy="640080"/>
          </a:xfrm>
          <a:prstGeom prst="rect">
            <a:avLst/>
          </a:prstGeom>
          <a:solidFill>
            <a:srgbClr val="E6F4FF"/>
          </a:solidFill>
          <a:ln w="12700"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001529"/>
                </a:solidFill>
                <a:latin typeface="Calibri"/>
              </a:rPr>
              <a:t>📥  Enriched Excel downloaded  |  AI_Category · AI_Priority · Assigned_Team · Assigned_To · Confidence_Score · Routing_Status · Email_Sent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1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Technology Stack — 100% Open Source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3749039" cy="45720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🤖  AI / 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91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•  Ollama (gpt-oss:120b-cloud) — Local LLM inference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94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•  scikit-learn — TF-IDF + Logistic Regression classifier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697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•  sentence-transformers — Text embeddings (future)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59" y="1188720"/>
            <a:ext cx="3749039" cy="457200"/>
          </a:xfrm>
          <a:prstGeom prst="rect">
            <a:avLst/>
          </a:prstGeom>
          <a:solidFill>
            <a:srgbClr val="001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⚙️  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399" y="1691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•  Python 3.13 + FastAPI — REST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399" y="2194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•  SQLAlchemy + aiosqlite — Async database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399" y="2697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•  Jinja2 — HTML email templates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598" y="1188720"/>
            <a:ext cx="3749039" cy="457200"/>
          </a:xfrm>
          <a:prstGeom prst="rect">
            <a:avLst/>
          </a:prstGeom>
          <a:solidFill>
            <a:srgbClr val="722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🎨  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38" y="1691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•  React 18 + Vite — Modern SPA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38" y="2194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•  Ant Design 5 — Enterprise UI components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38" y="2697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•  Recharts — KPI charts and visualisations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566160"/>
            <a:ext cx="3749039" cy="457200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📧  Cloud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069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•  Gmail SMTP (smtplib) — Real email on auto-route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572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•  App Password authentication — Secure, no OAuth needed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074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•  Jinja2 HTML templates — Rich formatted emails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59" y="3566160"/>
            <a:ext cx="3749039" cy="457200"/>
          </a:xfrm>
          <a:prstGeom prst="rect">
            <a:avLst/>
          </a:prstGeom>
          <a:solidFill>
            <a:srgbClr val="FA8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📊  Monitoring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399" y="4069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•  Prometheus — Metrics collection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399" y="4572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•  Grafana — Dashboard visualisation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399" y="5074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•  Structured Python logging — Full audit trail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598" y="3566160"/>
            <a:ext cx="3749039" cy="457200"/>
          </a:xfrm>
          <a:prstGeom prst="rect">
            <a:avLst/>
          </a:prstGeom>
          <a:solidFill>
            <a:srgbClr val="089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☁️  Deployment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38" y="4069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•  Azure Container Apps — Serverless containers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38" y="4572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•  Terraform — Infrastructure as Code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38" y="5074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•  GitHub Actions — CI/CD pipeline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Multi-Agent Pipeline — Intelligence Inside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097280"/>
            <a:ext cx="2286000" cy="59436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1.  Classifier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1737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677FF"/>
                </a:solidFill>
                <a:latin typeface="Calibri"/>
              </a:rPr>
              <a:t>What type of problem is this?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2240280"/>
            <a:ext cx="2286000" cy="4206240"/>
          </a:xfrm>
          <a:prstGeom prst="rect">
            <a:avLst/>
          </a:prstGeom>
          <a:solidFill>
            <a:srgbClr val="F0F2F5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2377440"/>
            <a:ext cx="2103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• ML model (TF-IDF + Logistic Regression)
• Ollama LLM fallback for ambiguous tickets
• Outputs: category + probability score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2578608" y="1097280"/>
            <a:ext cx="2286000" cy="594360"/>
          </a:xfrm>
          <a:prstGeom prst="rect">
            <a:avLst/>
          </a:prstGeom>
          <a:solidFill>
            <a:srgbClr val="FA8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2.  Priority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78608" y="1737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A8C16"/>
                </a:solidFill>
                <a:latin typeface="Calibri"/>
              </a:rPr>
              <a:t>How urgent is it?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2240280"/>
            <a:ext cx="2286000" cy="4206240"/>
          </a:xfrm>
          <a:prstGeom prst="rect">
            <a:avLst/>
          </a:prstGeom>
          <a:solidFill>
            <a:srgbClr val="F0F2F5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70048" y="2377440"/>
            <a:ext cx="2103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• Keyword rules for obvious cases (P1: 'outage', 'down')
• Ollama reasoning for ambiguous tickets
• Outputs: P1 Critical / P2 High / P3 Medium / P4 Low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74336" y="1097280"/>
            <a:ext cx="2286000" cy="594360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3.  Routing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74336" y="1737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2C41A"/>
                </a:solidFill>
                <a:latin typeface="Calibri"/>
              </a:rPr>
              <a:t>Who should handle it?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74336" y="2240280"/>
            <a:ext cx="2286000" cy="4206240"/>
          </a:xfrm>
          <a:prstGeom prst="rect">
            <a:avLst/>
          </a:prstGeom>
          <a:solidFill>
            <a:srgbClr val="F0F2F5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65776" y="2377440"/>
            <a:ext cx="2103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• Reads routing_config.xlsx (editable without code)
• P1/P2 → Team Lead automatically
• P3/P4 → Ollama picks best-fit member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70064" y="1097280"/>
            <a:ext cx="2286000" cy="594360"/>
          </a:xfrm>
          <a:prstGeom prst="rect">
            <a:avLst/>
          </a:prstGeom>
          <a:solidFill>
            <a:srgbClr val="001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4.  Confidence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70064" y="1737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1529"/>
                </a:solidFill>
                <a:latin typeface="Calibri"/>
              </a:rPr>
              <a:t>Are we sure enough to act?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0064" y="2240280"/>
            <a:ext cx="2286000" cy="4206240"/>
          </a:xfrm>
          <a:prstGeom prst="rect">
            <a:avLst/>
          </a:prstGeom>
          <a:solidFill>
            <a:srgbClr val="F0F2F5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61504" y="2377440"/>
            <a:ext cx="2103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• Weighted score: ML (50%) + LLM (30%) + Priority (20%)
• &gt;85% → Auto-Route + Email
• 65-85% → Flagged for review
• &lt;65% → Held for manual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65792" y="1097280"/>
            <a:ext cx="2286000" cy="594360"/>
          </a:xfrm>
          <a:prstGeom prst="rect">
            <a:avLst/>
          </a:prstGeom>
          <a:solidFill>
            <a:srgbClr val="722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5.  Feedback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65792" y="1737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22ED1"/>
                </a:solidFill>
                <a:latin typeface="Calibri"/>
              </a:rPr>
              <a:t>How do we get smarter?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65792" y="2240280"/>
            <a:ext cx="2286000" cy="4206240"/>
          </a:xfrm>
          <a:prstGeom prst="rect">
            <a:avLst/>
          </a:prstGeom>
          <a:solidFill>
            <a:srgbClr val="F0F2F5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57232" y="2377440"/>
            <a:ext cx="2103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• Stores human corrections in SQLite
• Triggers retraining when N corrections reached
• Continuously improves accuracy over 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1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Supported Teams &amp; Routing Configuration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2743200" cy="50292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🧪  Testing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8308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595959"/>
                </a:solidFill>
                <a:latin typeface="Calibri"/>
              </a:rPr>
              <a:t>Test failures, UAT issues,
automation errors, QA sign-offs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3337560" y="1280160"/>
            <a:ext cx="2743200" cy="502920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📡  EDI Team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7560" y="178308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595959"/>
                </a:solidFill>
                <a:latin typeface="Calibri"/>
              </a:rPr>
              <a:t>EDI transactions, 835/837 files,
HIPAA validation, partner setup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280160"/>
            <a:ext cx="2743200" cy="502920"/>
          </a:xfrm>
          <a:prstGeom prst="rect">
            <a:avLst/>
          </a:prstGeom>
          <a:solidFill>
            <a:srgbClr val="FA8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⚙️  BizTalk Team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78308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595959"/>
                </a:solidFill>
                <a:latin typeface="Calibri"/>
              </a:rPr>
              <a:t>Orchestration failures, pipeline
exceptions, adapter config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81160" y="1280160"/>
            <a:ext cx="2743200" cy="502920"/>
          </a:xfrm>
          <a:prstGeom prst="rect">
            <a:avLst/>
          </a:prstGeom>
          <a:solidFill>
            <a:srgbClr val="F5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🗄️  Database Team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81160" y="178308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595959"/>
                </a:solidFill>
                <a:latin typeface="Calibri"/>
              </a:rPr>
              <a:t>Connection timeouts, slow queries,
deadlocks, backup failures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291840"/>
            <a:ext cx="2743200" cy="502920"/>
          </a:xfrm>
          <a:prstGeom prst="rect">
            <a:avLst/>
          </a:prstGeom>
          <a:solidFill>
            <a:srgbClr val="089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🌐  Network Team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79476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595959"/>
                </a:solidFill>
                <a:latin typeface="Calibri"/>
              </a:rPr>
              <a:t>VPN, DNS, firewall rules,
load balancer issues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3291840"/>
            <a:ext cx="2743200" cy="502920"/>
          </a:xfrm>
          <a:prstGeom prst="rect">
            <a:avLst/>
          </a:prstGeom>
          <a:solidFill>
            <a:srgbClr val="722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🔐  Access Team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7560" y="379476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595959"/>
                </a:solidFill>
                <a:latin typeface="Calibri"/>
              </a:rPr>
              <a:t>Account lockouts, password
resets, permission issues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291840"/>
            <a:ext cx="2743200" cy="502920"/>
          </a:xfrm>
          <a:prstGeom prst="rect">
            <a:avLst/>
          </a:prstGeom>
          <a:solidFill>
            <a:srgbClr val="EB2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🛡️  Security Team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79476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595959"/>
                </a:solidFill>
                <a:latin typeface="Calibri"/>
              </a:rPr>
              <a:t>Phishing, malware, compliance
audits, patch deployment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394960"/>
            <a:ext cx="11430000" cy="731520"/>
          </a:xfrm>
          <a:prstGeom prst="rect">
            <a:avLst/>
          </a:prstGeom>
          <a:solidFill>
            <a:srgbClr val="E6F4FF"/>
          </a:solidFill>
          <a:ln w="19050"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1529"/>
                </a:solidFill>
                <a:latin typeface="Calibri"/>
              </a:rPr>
              <a:t>🔧  Need to add a new team? Just update data/routing_config.xlsx — no code changes required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KRA Achievements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48640" cy="1280160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62626"/>
                </a:solidFill>
                <a:latin typeface="Calibri"/>
              </a:rPr>
              <a:t>Data Collection &amp;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Calibri"/>
              </a:rPr>
              <a:t>50 synthetic labeled tickets across 7 teams generated.
Baseline metrics established before model training.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188720"/>
            <a:ext cx="548640" cy="1280160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12344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62626"/>
                </a:solidFill>
                <a:latin typeface="Calibri"/>
              </a:rPr>
              <a:t>Classifier Model — 70–80% 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164592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Calibri"/>
              </a:rPr>
              <a:t>TF-IDF + Logistic Regression pipeline trained.
Accuracy, F1-macro and confusion matrix reported.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834640"/>
            <a:ext cx="548640" cy="1280160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8803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62626"/>
                </a:solidFill>
                <a:latin typeface="Calibri"/>
              </a:rPr>
              <a:t>Multi-Agent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29184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Calibri"/>
              </a:rPr>
              <a:t>5 specialised agents: Classifier, Priority, Routing,
Confidence, Feedback — all connected in one pipeline.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834640"/>
            <a:ext cx="548640" cy="1280160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8803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62626"/>
                </a:solidFill>
                <a:latin typeface="Calibri"/>
              </a:rPr>
              <a:t>Excel Auto-Routing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329184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Calibri"/>
              </a:rPr>
              <a:t>Upload .xlsx → enrich with AI columns → download.
Confidence thresholds: &gt;85% auto-route, else flag/hold.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480560"/>
            <a:ext cx="548640" cy="1280160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5262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62626"/>
                </a:solidFill>
                <a:latin typeface="Calibri"/>
              </a:rPr>
              <a:t>Real Cloud Action — Gmail SMTP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93776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Calibri"/>
              </a:rPr>
              <a:t>Auto-routed tickets trigger email notification
to team assignee. Live email delivered.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480560"/>
            <a:ext cx="548640" cy="1280160"/>
          </a:xfrm>
          <a:prstGeom prst="rect">
            <a:avLst/>
          </a:prstGeom>
          <a:solidFill>
            <a:srgbClr val="FA8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45262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62626"/>
                </a:solidFill>
                <a:latin typeface="Calibri"/>
              </a:rPr>
              <a:t>Feedback Loop &amp; Similarity (In Progress)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493776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Calibri"/>
              </a:rPr>
              <a:t>Human corrections stored in SQLite.
Retraining triggered at configurable threshold.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5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Live Demonstration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3749039" cy="41148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Step 1  —  🌐  Open Web Portal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00200"/>
            <a:ext cx="3749039" cy="1828800"/>
          </a:xfrm>
          <a:prstGeom prst="rect">
            <a:avLst/>
          </a:prstGeom>
          <a:solidFill>
            <a:srgbClr val="060C1A"/>
          </a:solidFill>
          <a:ln w="19050"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77FF"/>
                </a:solidFill>
                <a:latin typeface="Calibri"/>
              </a:rPr>
              <a:t>http://localhost:5173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4884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alibri"/>
              </a:rPr>
              <a:t>Dashboard with KPI cards showing model accuracy,
auto-route %, and ticket volume.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399" y="1188720"/>
            <a:ext cx="3749039" cy="411480"/>
          </a:xfrm>
          <a:prstGeom prst="rect">
            <a:avLst/>
          </a:prstGeom>
          <a:solidFill>
            <a:srgbClr val="FA8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Step 2  —  📤  Upload Tickets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399" y="1600200"/>
            <a:ext cx="3749039" cy="1828800"/>
          </a:xfrm>
          <a:prstGeom prst="rect">
            <a:avLst/>
          </a:prstGeom>
          <a:solidFill>
            <a:srgbClr val="060C1A"/>
          </a:solidFill>
          <a:ln w="19050">
            <a:solidFill>
              <a:srgbClr val="FA8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39" y="17373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A8C16"/>
                </a:solidFill>
                <a:latin typeface="Calibri"/>
              </a:rPr>
              <a:t>Upload → sample_tickets.xlsx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39" y="214884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alibri"/>
              </a:rPr>
              <a:t>Drag and drop the Excel file. Watch the
Ant Design Steps progress bar advance.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38" y="1188720"/>
            <a:ext cx="3749039" cy="411480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Step 3  —  ⚙️  Agents Processing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38" y="1600200"/>
            <a:ext cx="3749039" cy="1828800"/>
          </a:xfrm>
          <a:prstGeom prst="rect">
            <a:avLst/>
          </a:prstGeom>
          <a:solidFill>
            <a:srgbClr val="060C1A"/>
          </a:solidFill>
          <a:ln w="19050">
            <a:solidFill>
              <a:srgbClr val="52C4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8" y="17373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2C41A"/>
                </a:solidFill>
                <a:latin typeface="Calibri"/>
              </a:rPr>
              <a:t>Watch the API logs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8" y="214884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alibri"/>
              </a:rPr>
              <a:t>Classifier → Priority → Routing → Confidence.
Each ticket processed in seconds.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566160"/>
            <a:ext cx="3749039" cy="411480"/>
          </a:xfrm>
          <a:prstGeom prst="rect">
            <a:avLst/>
          </a:prstGeom>
          <a:solidFill>
            <a:srgbClr val="722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Step 4  —  📥  Download Results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977640"/>
            <a:ext cx="3749039" cy="1828800"/>
          </a:xfrm>
          <a:prstGeom prst="rect">
            <a:avLst/>
          </a:prstGeom>
          <a:solidFill>
            <a:srgbClr val="060C1A"/>
          </a:solidFill>
          <a:ln w="19050">
            <a:solidFill>
              <a:srgbClr val="722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1148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22ED1"/>
                </a:solidFill>
                <a:latin typeface="Calibri"/>
              </a:rPr>
              <a:t>triage_results.xlsx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52628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alibri"/>
              </a:rPr>
              <a:t>AI_Category, AI_Priority, Assigned_Team,
Confidence_Score, Routing_Status all added.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399" y="3566160"/>
            <a:ext cx="3749039" cy="411480"/>
          </a:xfrm>
          <a:prstGeom prst="rect">
            <a:avLst/>
          </a:prstGeom>
          <a:solidFill>
            <a:srgbClr val="089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Step 5  —  ⚠️  Review Queue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399" y="3977640"/>
            <a:ext cx="3749039" cy="1828800"/>
          </a:xfrm>
          <a:prstGeom prst="rect">
            <a:avLst/>
          </a:prstGeom>
          <a:solidFill>
            <a:srgbClr val="060C1A"/>
          </a:solidFill>
          <a:ln w="19050">
            <a:solidFill>
              <a:srgbClr val="0897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39" y="41148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8979C"/>
                </a:solidFill>
                <a:latin typeface="Calibri"/>
              </a:rPr>
              <a:t>Flagged tickets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39" y="452628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alibri"/>
              </a:rPr>
              <a:t>Correct AI decisions inline.
Feedback stored for retraining.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21038" y="3566160"/>
            <a:ext cx="3749039" cy="411480"/>
          </a:xfrm>
          <a:prstGeom prst="rect">
            <a:avLst/>
          </a:prstGeom>
          <a:solidFill>
            <a:srgbClr val="F5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Step 6  —  📧  Check Email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21038" y="3977640"/>
            <a:ext cx="3749039" cy="1828800"/>
          </a:xfrm>
          <a:prstGeom prst="rect">
            <a:avLst/>
          </a:prstGeom>
          <a:solidFill>
            <a:srgbClr val="060C1A"/>
          </a:solidFill>
          <a:ln w="19050">
            <a:solidFill>
              <a:srgbClr val="F52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78" y="41148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222D"/>
                </a:solidFill>
                <a:latin typeface="Calibri"/>
              </a:rPr>
              <a:t>Auto-route notification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78" y="452628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alibri"/>
              </a:rPr>
              <a:t>Gmail inbox receives formatted HTML email
for each auto-routed P1/P2 ticket.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1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KPIs &amp; Business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651760" cy="109728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800" b="1">
                <a:solidFill>
                  <a:srgbClr val="FFFFFF"/>
                </a:solidFill>
                <a:latin typeface="Calibri"/>
              </a:rPr>
              <a:t>≥ 70–80%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231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62626"/>
                </a:solidFill>
                <a:latin typeface="Calibri"/>
              </a:rPr>
              <a:t>Model Accuracy
(Baseline)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95959"/>
                </a:solidFill>
                <a:latin typeface="Calibri"/>
              </a:rPr>
              <a:t>KRA Target: ≥85% after feedback loop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280160"/>
            <a:ext cx="2651760" cy="1097280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800" b="1">
                <a:solidFill>
                  <a:srgbClr val="FFFFFF"/>
                </a:solidFill>
                <a:latin typeface="Calibri"/>
              </a:rPr>
              <a:t>≥ 50%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4231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62626"/>
                </a:solidFill>
                <a:latin typeface="Calibri"/>
              </a:rPr>
              <a:t>Time Reduction
in Routing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9260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95959"/>
                </a:solidFill>
                <a:latin typeface="Calibri"/>
              </a:rPr>
              <a:t>From ~20 min manual → &lt;2 min automated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280160"/>
            <a:ext cx="2651760" cy="1097280"/>
          </a:xfrm>
          <a:prstGeom prst="rect">
            <a:avLst/>
          </a:prstGeom>
          <a:solidFill>
            <a:srgbClr val="FA8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800" b="1">
                <a:solidFill>
                  <a:srgbClr val="FFFFFF"/>
                </a:solidFill>
                <a:latin typeface="Calibri"/>
              </a:rPr>
              <a:t>&gt; 85%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4231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62626"/>
                </a:solidFill>
                <a:latin typeface="Calibri"/>
              </a:rPr>
              <a:t>Confidence
Auto-Route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9260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95959"/>
                </a:solidFill>
                <a:latin typeface="Calibri"/>
              </a:rPr>
              <a:t>Tickets routed without human touch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1280160"/>
            <a:ext cx="2651760" cy="1097280"/>
          </a:xfrm>
          <a:prstGeom prst="rect">
            <a:avLst/>
          </a:prstGeom>
          <a:solidFill>
            <a:srgbClr val="F5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800" b="1">
                <a:solidFill>
                  <a:srgbClr val="FFFFFF"/>
                </a:solidFill>
                <a:latin typeface="Calibri"/>
              </a:rPr>
              <a:t>7 Teams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24231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62626"/>
                </a:solidFill>
                <a:latin typeface="Calibri"/>
              </a:rPr>
              <a:t>Covered
Automatically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9260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95959"/>
                </a:solidFill>
                <a:latin typeface="Calibri"/>
              </a:rPr>
              <a:t>Extensible via Excel config file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657600"/>
            <a:ext cx="5486400" cy="411480"/>
          </a:xfrm>
          <a:prstGeom prst="rect">
            <a:avLst/>
          </a:prstGeom>
          <a:solidFill>
            <a:srgbClr val="F5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❌  BEFORE — Manual Process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1605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•  15–30 min to triage and route a batch of tickets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5720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•  Inconsistent categorisation — analyst-dependent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9834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•  No priority logic — critical issues buried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949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•  Zero visibility into routing trends or workloads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657600"/>
            <a:ext cx="5486400" cy="411480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✅  AFTER — AI Agent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1605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•  &lt; 2 min for full batch — automatic with email notification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5720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•  Consistent AI classification — same logic every 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9834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•  Priority agents assign P1–P4 based on impact keywords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3949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•  Real-time KPI dashboard — confidence trends, team workload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Next Steps —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2743200" cy="594360"/>
          </a:xfrm>
          <a:prstGeom prst="rect">
            <a:avLst/>
          </a:prstGeom>
          <a:solidFill>
            <a:srgbClr val="001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Phase 7
(Next)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83080"/>
            <a:ext cx="2743200" cy="4114800"/>
          </a:xfrm>
          <a:prstGeom prst="rect">
            <a:avLst/>
          </a:prstGeom>
          <a:solidFill>
            <a:srgbClr val="F0F2F5"/>
          </a:solidFill>
          <a:ln w="25400">
            <a:solidFill>
              <a:srgbClr val="0015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Calibri"/>
              </a:rPr>
              <a:t>☁️  Azure deployment via Terraform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146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Calibri"/>
              </a:rPr>
              <a:t>🔄  GitHub Actions CI/CD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1089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Calibri"/>
              </a:rPr>
              <a:t>📊  Grafana monitoring dashboards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188720"/>
            <a:ext cx="2743200" cy="59436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Sprint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783080"/>
            <a:ext cx="2743200" cy="4114800"/>
          </a:xfrm>
          <a:prstGeom prst="rect">
            <a:avLst/>
          </a:prstGeom>
          <a:solidFill>
            <a:srgbClr val="F0F2F5"/>
          </a:solidFill>
          <a:ln w="25400"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9202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Calibri"/>
              </a:rPr>
              <a:t>🔍  Semantic similarity (ChromaDB)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5146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Calibri"/>
              </a:rPr>
              <a:t>📈  Improve accuracy to ≥85%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31089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Calibri"/>
              </a:rPr>
              <a:t>🏷️  Confidence calibration tuning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188720"/>
            <a:ext cx="2743200" cy="594360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Sprint 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783080"/>
            <a:ext cx="2743200" cy="4114800"/>
          </a:xfrm>
          <a:prstGeom prst="rect">
            <a:avLst/>
          </a:prstGeom>
          <a:solidFill>
            <a:srgbClr val="F0F2F5"/>
          </a:solidFill>
          <a:ln w="25400">
            <a:solidFill>
              <a:srgbClr val="52C4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9202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Calibri"/>
              </a:rPr>
              <a:t>🔗  ServiceNow / Jira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5146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Calibri"/>
              </a:rPr>
              <a:t>📩  Multi-channel notifications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1089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Calibri"/>
              </a:rPr>
              <a:t>🧪  A/B testing for routing rules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1188720"/>
            <a:ext cx="2743200" cy="594360"/>
          </a:xfrm>
          <a:prstGeom prst="rect">
            <a:avLst/>
          </a:prstGeom>
          <a:solidFill>
            <a:srgbClr val="FA8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Sprint 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1783080"/>
            <a:ext cx="2743200" cy="4114800"/>
          </a:xfrm>
          <a:prstGeom prst="rect">
            <a:avLst/>
          </a:prstGeom>
          <a:solidFill>
            <a:srgbClr val="F0F2F5"/>
          </a:solidFill>
          <a:ln w="25400">
            <a:solidFill>
              <a:srgbClr val="FA8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19202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Calibri"/>
              </a:rPr>
              <a:t>🤖  Self-learning retraining loop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25146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Calibri"/>
              </a:rPr>
              <a:t>👥  Multi-tenant team support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31089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Calibri"/>
              </a:rPr>
              <a:t>🌍  Multi-language ticket support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5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8CB8FF"/>
                </a:solidFill>
                <a:latin typeface="Calibri"/>
              </a:rPr>
              <a:t>AI Agent Ticket Triage &amp; Auto-Routing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596B8C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6B8C"/>
                </a:solidFill>
                <a:latin typeface="Calibri"/>
              </a:rPr>
              <a:t>  Q:  How does the system handle tickets it has never seen before?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194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6B8C"/>
                </a:solidFill>
                <a:latin typeface="Calibri"/>
              </a:rPr>
              <a:t>  Q:  What happens when Ollama is unavailable?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6694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6B8C"/>
                </a:solidFill>
                <a:latin typeface="Calibri"/>
              </a:rPr>
              <a:t>  Q:  How do we add new teams or change routing rules?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61441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6B8C"/>
                </a:solidFill>
                <a:latin typeface="Calibri"/>
              </a:rPr>
              <a:t>  Q:  What is the accuracy after the feedback loop runs?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